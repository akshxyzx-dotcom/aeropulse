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</p:sldIdLst>
  <p:sldSz cx="18288000" cy="10287000"/>
  <p:notesSz cx="6858000" cy="9144000"/>
  <p:embeddedFontLst>
    <p:embeddedFont>
      <p:font typeface="Times New Roman Bold" panose="02020803070505020304"/>
      <p:bold r:id="rId13"/>
    </p:embeddedFont>
    <p:embeddedFont>
      <p:font typeface="Arimo Bold" panose="020B0704020202020204"/>
      <p:bold r:id="rId14"/>
    </p:embeddedFont>
    <p:embeddedFont>
      <p:font typeface="Arimo" panose="020B0604020202020204"/>
      <p:regular r:id="rId15"/>
    </p:embeddedFont>
    <p:embeddedFont>
      <p:font typeface="Calibri (MS)" panose="020F0502020204030204"/>
      <p:regular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29.xml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2" Type="http://schemas.openxmlformats.org/officeDocument/2006/relationships/notesSlide" Target="../notesSlides/notesSlide4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28.xml"/><Relationship Id="rId3" Type="http://schemas.openxmlformats.org/officeDocument/2006/relationships/tags" Target="../tags/tag1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5.pn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</a:p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TITLE PAGE</a:t>
            </a:r>
            <a:endParaRPr lang="en-US" sz="4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5731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726400" cy="4191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SMART INDIA HACKATHON 2025</a:t>
              </a:r>
              <a:endParaRPr lang="en-US" sz="6000" b="1">
                <a:solidFill>
                  <a:srgbClr val="1F497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54269" y="2879986"/>
            <a:ext cx="8592242" cy="600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7080" lvl="1" indent="-383540" algn="l">
              <a:lnSpc>
                <a:spcPts val="4300"/>
              </a:lnSpc>
              <a:buFont typeface="Arial" panose="020B0604020202020204"/>
              <a:buChar char="•"/>
            </a:pPr>
            <a:r>
              <a:rPr lang="en-US" sz="355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Problem Statement ID : </a:t>
            </a:r>
            <a:r>
              <a:rPr lang="en-US" sz="355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26056</a:t>
            </a:r>
            <a:endParaRPr lang="en-US" sz="355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67080" lvl="1" indent="-383540" algn="just">
              <a:lnSpc>
                <a:spcPts val="4300"/>
              </a:lnSpc>
              <a:buFont typeface="Arial" panose="020B0604020202020204"/>
              <a:buChar char="•"/>
            </a:pPr>
            <a:r>
              <a:rPr lang="en-US" sz="355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Problem Statement Title : </a:t>
            </a:r>
            <a:r>
              <a:rPr lang="en-US" sz="355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Development of a Real-Time Airfare Price Index for India through Automated Web Scraping of Airline and Online Travel Aggregator Portals for Augmentation of the Consumer Price Index (CPI)</a:t>
            </a:r>
            <a:endParaRPr lang="en-US" sz="355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67080" lvl="1" indent="-383540" algn="just">
              <a:lnSpc>
                <a:spcPts val="4300"/>
              </a:lnSpc>
              <a:buFont typeface="Arial" panose="020B0604020202020204"/>
              <a:buChar char="•"/>
            </a:pPr>
            <a:r>
              <a:rPr lang="en-US" sz="355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Theme : </a:t>
            </a:r>
            <a:r>
              <a:rPr lang="en-US" sz="355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Automation</a:t>
            </a:r>
            <a:endParaRPr lang="en-US" sz="355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67080" lvl="1" indent="-383540" algn="just">
              <a:lnSpc>
                <a:spcPts val="4300"/>
              </a:lnSpc>
              <a:buFont typeface="Arial" panose="020B0604020202020204"/>
              <a:buChar char="•"/>
            </a:pPr>
            <a:r>
              <a:rPr lang="en-US" sz="355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PS Category : </a:t>
            </a:r>
            <a:r>
              <a:rPr lang="en-US" sz="355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</a:t>
            </a:r>
            <a:endParaRPr lang="en-US" sz="355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67080" lvl="1" indent="-383540" algn="just">
              <a:lnSpc>
                <a:spcPts val="4300"/>
              </a:lnSpc>
              <a:buFont typeface="Arial" panose="020B0604020202020204"/>
              <a:buChar char="•"/>
            </a:pPr>
            <a:r>
              <a:rPr lang="en-US" sz="355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Team ID : </a:t>
            </a:r>
            <a:endParaRPr lang="en-US" sz="355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767080" lvl="1" indent="-383540" algn="just">
              <a:lnSpc>
                <a:spcPts val="4300"/>
              </a:lnSpc>
              <a:buFont typeface="Arial" panose="020B0604020202020204"/>
              <a:buChar char="•"/>
            </a:pPr>
            <a:r>
              <a:rPr lang="en-US" sz="355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Team Name : </a:t>
            </a:r>
            <a:r>
              <a:rPr lang="en-US" sz="355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AeroPulse</a:t>
            </a:r>
            <a:endParaRPr lang="en-US" sz="355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id="11" name="Freeform 11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28508" y="-778500"/>
            <a:ext cx="16459200" cy="1834282"/>
            <a:chOff x="0" y="0"/>
            <a:chExt cx="21945600" cy="244570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445709"/>
            </a:xfrm>
            <a:custGeom>
              <a:avLst/>
              <a:gdLst/>
              <a:ahLst/>
              <a:cxnLst/>
              <a:rect l="l" t="t" r="r" b="b"/>
              <a:pathLst>
                <a:path w="21945600" h="2445709">
                  <a:moveTo>
                    <a:pt x="0" y="0"/>
                  </a:moveTo>
                  <a:lnTo>
                    <a:pt x="21945600" y="0"/>
                  </a:lnTo>
                  <a:lnTo>
                    <a:pt x="21945600" y="2445709"/>
                  </a:lnTo>
                  <a:lnTo>
                    <a:pt x="0" y="2445709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8106" b="-12157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4742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</a:p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AeroPulse : Real-Time Airfare Price Index</a:t>
              </a:r>
              <a:endParaRPr lang="en-US" sz="5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2</a:t>
              </a:r>
              <a:endParaRPr lang="en-US" sz="1800" b="1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@SIH Idea submission- Template</a:t>
              </a:r>
              <a:endParaRPr lang="en-US" sz="18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343443" y="30325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AeroPulse</a:t>
              </a:r>
              <a:endPara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7" name="Freeform 1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533400" y="1370330"/>
            <a:ext cx="17404080" cy="82708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ts val="4200"/>
              </a:lnSpc>
            </a:pPr>
            <a:r>
              <a:rPr lang="en-US" altLang="en-US" sz="2800" b="1"/>
              <a:t>The Problem</a:t>
            </a:r>
            <a:endParaRPr lang="en-US" altLang="en-US" sz="2800" b="1"/>
          </a:p>
          <a:p>
            <a:pPr marL="457200" indent="-457200" algn="just">
              <a:lnSpc>
                <a:spcPts val="4200"/>
              </a:lnSpc>
              <a:buFont typeface="Wingdings" panose="05000000000000000000" charset="0"/>
              <a:buChar char="Ø"/>
            </a:pPr>
            <a:r>
              <a:rPr lang="en-US" altLang="en-US" sz="2800"/>
              <a:t>Airfares fluctuate with route, demand and booking time.</a:t>
            </a:r>
            <a:endParaRPr lang="en-US" altLang="en-US" sz="2800"/>
          </a:p>
          <a:p>
            <a:pPr marL="457200" indent="-457200" algn="just">
              <a:lnSpc>
                <a:spcPts val="4200"/>
              </a:lnSpc>
              <a:buFont typeface="Wingdings" panose="05000000000000000000" charset="0"/>
              <a:buChar char="Ø"/>
            </a:pPr>
            <a:r>
              <a:rPr lang="en-US" altLang="en-US" sz="2800"/>
              <a:t>No standardized index tracks airfare trends.</a:t>
            </a:r>
            <a:endParaRPr lang="en-US" altLang="en-US" sz="2800"/>
          </a:p>
          <a:p>
            <a:pPr marL="457200" indent="-457200" algn="just">
              <a:lnSpc>
                <a:spcPts val="4200"/>
              </a:lnSpc>
              <a:buFont typeface="Wingdings" panose="05000000000000000000" charset="0"/>
              <a:buChar char="Ø"/>
            </a:pPr>
            <a:r>
              <a:rPr lang="en-US" altLang="en-US" sz="2800"/>
              <a:t>Difficult to understand whether fares are rising or falling.</a:t>
            </a:r>
            <a:endParaRPr lang="en-US" altLang="en-US" sz="2800"/>
          </a:p>
          <a:p>
            <a:pPr algn="just">
              <a:lnSpc>
                <a:spcPts val="4200"/>
              </a:lnSpc>
            </a:pPr>
            <a:r>
              <a:rPr lang="en-US" altLang="en-US" sz="2800" b="1">
                <a:cs typeface="+mn-lt"/>
              </a:rPr>
              <a:t>Our Solution  </a:t>
            </a:r>
            <a:endParaRPr lang="en-US" altLang="en-US" sz="2800" b="1">
              <a:cs typeface="+mn-lt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charset="0"/>
              <a:buChar char="Ø"/>
            </a:pPr>
            <a:r>
              <a:rPr lang="en-US" altLang="en-US" sz="2800">
                <a:cs typeface="+mn-lt"/>
              </a:rPr>
              <a:t>Collect and clean airfare data.</a:t>
            </a:r>
            <a:endParaRPr lang="en-US" altLang="en-US" sz="2800">
              <a:cs typeface="+mn-lt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charset="0"/>
              <a:buChar char="Ø"/>
            </a:pPr>
            <a:r>
              <a:rPr lang="en-US" altLang="en-US" sz="2800">
                <a:cs typeface="+mn-lt"/>
              </a:rPr>
              <a:t>Calculate route &amp; national indices.</a:t>
            </a:r>
            <a:endParaRPr lang="en-US" altLang="en-US" sz="2800">
              <a:cs typeface="+mn-lt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charset="0"/>
              <a:buChar char="Ø"/>
            </a:pPr>
            <a:r>
              <a:rPr lang="en-US" altLang="en-US" sz="2800">
                <a:cs typeface="+mn-lt"/>
              </a:rPr>
              <a:t>Visualize trends through an interactive dashboard.</a:t>
            </a:r>
            <a:endParaRPr lang="en-US" altLang="en-US" sz="2800">
              <a:cs typeface="+mn-lt"/>
            </a:endParaRPr>
          </a:p>
          <a:p>
            <a:pPr algn="just">
              <a:lnSpc>
                <a:spcPts val="4200"/>
              </a:lnSpc>
            </a:pPr>
            <a:r>
              <a:rPr lang="en-US" altLang="en-US" sz="2800" b="1">
                <a:cs typeface="+mn-lt"/>
              </a:rPr>
              <a:t>Prototype Output</a:t>
            </a:r>
            <a:endParaRPr lang="en-US" altLang="en-US" sz="2800" b="1">
              <a:cs typeface="+mn-lt"/>
            </a:endParaRPr>
          </a:p>
          <a:p>
            <a:pPr algn="just">
              <a:lnSpc>
                <a:spcPts val="4200"/>
              </a:lnSpc>
            </a:pPr>
            <a:r>
              <a:rPr lang="en-US" altLang="en-US" sz="2800">
                <a:cs typeface="+mn-lt"/>
              </a:rPr>
              <a:t>Raw Flight Data             Cleaned Dataset            Index Engine         Backend API             Dashboard</a:t>
            </a:r>
            <a:endParaRPr lang="en-US" altLang="en-US" sz="2800">
              <a:cs typeface="+mn-lt"/>
            </a:endParaRPr>
          </a:p>
          <a:p>
            <a:pPr algn="just">
              <a:lnSpc>
                <a:spcPts val="4200"/>
              </a:lnSpc>
            </a:pPr>
            <a:r>
              <a:rPr lang="en-US" altLang="en-US" sz="2800" b="1">
                <a:cs typeface="+mn-lt"/>
              </a:rPr>
              <a:t>Innovation</a:t>
            </a:r>
            <a:endParaRPr lang="en-US" altLang="en-US" sz="2800" b="1">
              <a:cs typeface="+mn-lt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charset="0"/>
              <a:buChar char="Ø"/>
            </a:pPr>
            <a:r>
              <a:rPr lang="en-US" altLang="en-US" sz="2800">
                <a:cs typeface="+mn-lt"/>
              </a:rPr>
              <a:t>Converts thousands of individual airfare observations into one interpretable index.                                </a:t>
            </a:r>
            <a:endParaRPr lang="en-US" altLang="en-US" sz="2800">
              <a:cs typeface="+mn-lt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charset="0"/>
              <a:buChar char="Ø"/>
            </a:pPr>
            <a:r>
              <a:rPr lang="en-US" altLang="en-US" sz="2800">
                <a:cs typeface="+mn-lt"/>
              </a:rPr>
              <a:t>Uses a weighted index methodology rather than simply displaying average ticket prices.                                  </a:t>
            </a:r>
            <a:endParaRPr lang="en-US" altLang="en-US" sz="2800">
              <a:cs typeface="+mn-lt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charset="0"/>
              <a:buChar char="Ø"/>
            </a:pPr>
            <a:r>
              <a:rPr lang="en-US" altLang="en-US" sz="2800">
                <a:cs typeface="+mn-lt"/>
              </a:rPr>
              <a:t>Enables comparison of airfare movement across routes, horizons and snapshots.                                    </a:t>
            </a:r>
            <a:r>
              <a:rPr lang="en-US" altLang="en-US" sz="2800">
                <a:cs typeface="+mn-lt"/>
                <a:sym typeface="+mn-ea"/>
              </a:rPr>
              <a:t>    </a:t>
            </a:r>
            <a:endParaRPr lang="en-US" altLang="en-US" sz="2800">
              <a:cs typeface="+mn-lt"/>
            </a:endParaRPr>
          </a:p>
          <a:p>
            <a:pPr marL="457200" indent="-457200" algn="just">
              <a:lnSpc>
                <a:spcPts val="4200"/>
              </a:lnSpc>
              <a:buFont typeface="Wingdings" panose="05000000000000000000" charset="0"/>
              <a:buChar char="Ø"/>
            </a:pPr>
            <a:endParaRPr lang="en-US" altLang="en-US" sz="2800" b="1">
              <a:cs typeface="+mn-lt"/>
            </a:endParaRPr>
          </a:p>
          <a:p>
            <a:pPr algn="just">
              <a:lnSpc>
                <a:spcPts val="4200"/>
              </a:lnSpc>
            </a:pPr>
            <a:r>
              <a:rPr lang="en-US" altLang="en-US">
                <a:cs typeface="+mn-lt"/>
              </a:rPr>
              <a:t>s.</a:t>
            </a:r>
            <a:endParaRPr lang="en-US" altLang="en-US">
              <a:cs typeface="+mn-lt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2971800" y="6210300"/>
            <a:ext cx="585470" cy="4032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>
            <a:off x="6324600" y="6249035"/>
            <a:ext cx="690880" cy="3644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Right Arrow 25"/>
          <p:cNvSpPr/>
          <p:nvPr/>
        </p:nvSpPr>
        <p:spPr>
          <a:xfrm>
            <a:off x="9067800" y="6210300"/>
            <a:ext cx="614045" cy="4025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11582400" y="6210300"/>
            <a:ext cx="685800" cy="3810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84810" y="6209665"/>
            <a:ext cx="14169390" cy="534035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838200" y="12065"/>
            <a:ext cx="17830800" cy="495300"/>
            <a:chOff x="-101600" y="-463762"/>
            <a:chExt cx="23774400" cy="2314575"/>
          </a:xfrm>
        </p:grpSpPr>
        <p:sp>
          <p:nvSpPr>
            <p:cNvPr id="5" name="Freeform 5"/>
            <p:cNvSpPr/>
            <p:nvPr/>
          </p:nvSpPr>
          <p:spPr>
            <a:xfrm>
              <a:off x="1727200" y="-463127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-101600" y="-463762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TECHNICAL APPROACH</a:t>
              </a:r>
              <a:endParaRPr lang="en-US" sz="36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3</a:t>
              </a:r>
              <a:endParaRPr lang="en-US" sz="1800" b="1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@SIH Idea submission- Template</a:t>
              </a:r>
              <a:endParaRPr lang="en-US" sz="18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AeroPulse</a:t>
              </a:r>
              <a:endPara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7" name="Freeform 1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4239895" y="419100"/>
            <a:ext cx="13122275" cy="90614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lang="en-US" altLang="en-US" sz="2400" b="1"/>
              <a:t>                                            </a:t>
            </a:r>
            <a:r>
              <a:rPr lang="en-US" altLang="en-US" sz="3200" b="1"/>
              <a:t>1. Data Collection</a:t>
            </a:r>
            <a:endParaRPr lang="en-US" altLang="en-US" sz="3200" b="1"/>
          </a:p>
          <a:p>
            <a:pPr algn="l">
              <a:lnSpc>
                <a:spcPts val="4620"/>
              </a:lnSpc>
            </a:pPr>
            <a:r>
              <a:rPr lang="en-US" altLang="en-US" sz="3200"/>
              <a:t>             Playwright → Routes → Booking Horizons</a:t>
            </a:r>
            <a:endParaRPr lang="en-US" altLang="en-US" sz="3200"/>
          </a:p>
          <a:p>
            <a:pPr algn="l">
              <a:lnSpc>
                <a:spcPts val="4620"/>
              </a:lnSpc>
            </a:pPr>
            <a:r>
              <a:rPr lang="en-US" altLang="en-US" sz="3200" b="1">
                <a:solidFill>
                  <a:schemeClr val="accent2"/>
                </a:solidFill>
              </a:rPr>
              <a:t>                                                   ↓</a:t>
            </a:r>
            <a:endParaRPr lang="en-US" altLang="en-US" sz="3200" b="1">
              <a:solidFill>
                <a:schemeClr val="accent2"/>
              </a:solidFill>
            </a:endParaRPr>
          </a:p>
          <a:p>
            <a:pPr algn="l">
              <a:lnSpc>
                <a:spcPts val="4620"/>
              </a:lnSpc>
            </a:pPr>
            <a:r>
              <a:rPr lang="en-US" altLang="en-US" sz="3200" b="1"/>
              <a:t>                                    2. Data Cleaning</a:t>
            </a:r>
            <a:endParaRPr lang="en-US" altLang="en-US" sz="3200" b="1"/>
          </a:p>
          <a:p>
            <a:pPr algn="l">
              <a:lnSpc>
                <a:spcPts val="4620"/>
              </a:lnSpc>
            </a:pPr>
            <a:r>
              <a:rPr lang="en-US" altLang="en-US" sz="3200"/>
              <a:t>                          Filter → Validate → Standardize</a:t>
            </a:r>
            <a:endParaRPr lang="en-US" altLang="en-US" sz="3200"/>
          </a:p>
          <a:p>
            <a:pPr algn="l">
              <a:lnSpc>
                <a:spcPts val="4620"/>
              </a:lnSpc>
            </a:pPr>
            <a:r>
              <a:rPr lang="en-US" altLang="en-US" sz="3200" b="1">
                <a:solidFill>
                  <a:schemeClr val="accent2"/>
                </a:solidFill>
              </a:rPr>
              <a:t>                                                   ↓</a:t>
            </a:r>
            <a:endParaRPr lang="en-US" altLang="en-US" sz="3200" b="1">
              <a:solidFill>
                <a:schemeClr val="accent2"/>
              </a:solidFill>
            </a:endParaRPr>
          </a:p>
          <a:p>
            <a:pPr algn="l">
              <a:lnSpc>
                <a:spcPts val="4620"/>
              </a:lnSpc>
            </a:pPr>
            <a:r>
              <a:rPr lang="en-US" altLang="en-US" sz="3200" b="1"/>
              <a:t>                                    3. Index Calculation</a:t>
            </a:r>
            <a:endParaRPr lang="en-US" altLang="en-US" sz="3200" b="1"/>
          </a:p>
          <a:p>
            <a:pPr algn="l">
              <a:lnSpc>
                <a:spcPts val="4620"/>
              </a:lnSpc>
            </a:pPr>
            <a:r>
              <a:rPr lang="en-US" altLang="en-US" sz="3200"/>
              <a:t>          Geometric Mean → Route Index → National Index</a:t>
            </a:r>
            <a:endParaRPr lang="en-US" altLang="en-US" sz="3200"/>
          </a:p>
          <a:p>
            <a:pPr algn="l">
              <a:lnSpc>
                <a:spcPts val="4620"/>
              </a:lnSpc>
            </a:pPr>
            <a:r>
              <a:rPr lang="en-US" altLang="en-US" sz="3200" b="1">
                <a:solidFill>
                  <a:schemeClr val="accent2"/>
                </a:solidFill>
              </a:rPr>
              <a:t>                                                    ↓</a:t>
            </a:r>
            <a:endParaRPr lang="en-US" altLang="en-US" sz="3200" b="1">
              <a:solidFill>
                <a:schemeClr val="accent2"/>
              </a:solidFill>
            </a:endParaRPr>
          </a:p>
          <a:p>
            <a:pPr algn="l">
              <a:lnSpc>
                <a:spcPts val="4620"/>
              </a:lnSpc>
            </a:pPr>
            <a:r>
              <a:rPr lang="en-US" altLang="en-US" sz="3200" b="1"/>
              <a:t>                                      4 . Backend</a:t>
            </a:r>
            <a:endParaRPr lang="en-US" altLang="en-US" sz="3200" b="1"/>
          </a:p>
          <a:p>
            <a:pPr algn="l">
              <a:lnSpc>
                <a:spcPts val="4620"/>
              </a:lnSpc>
            </a:pPr>
            <a:r>
              <a:rPr lang="en-US" altLang="en-US" sz="3200"/>
              <a:t>                                         Python REST API</a:t>
            </a:r>
            <a:endParaRPr lang="en-US" altLang="en-US" sz="3200"/>
          </a:p>
          <a:p>
            <a:pPr algn="l">
              <a:lnSpc>
                <a:spcPts val="4620"/>
              </a:lnSpc>
            </a:pPr>
            <a:r>
              <a:rPr lang="en-US" altLang="en-US" sz="3200" b="1">
                <a:solidFill>
                  <a:schemeClr val="accent2"/>
                </a:solidFill>
              </a:rPr>
              <a:t>                                                    ↓</a:t>
            </a:r>
            <a:endParaRPr lang="en-US" altLang="en-US" sz="3200" b="1">
              <a:solidFill>
                <a:schemeClr val="accent2"/>
              </a:solidFill>
            </a:endParaRPr>
          </a:p>
          <a:p>
            <a:pPr algn="l">
              <a:lnSpc>
                <a:spcPts val="4620"/>
              </a:lnSpc>
            </a:pPr>
            <a:r>
              <a:rPr lang="en-US" altLang="en-US" sz="3200" b="1"/>
              <a:t>                                       5. Dashboard</a:t>
            </a:r>
            <a:endParaRPr lang="en-US" altLang="en-US" sz="3200" b="1"/>
          </a:p>
          <a:p>
            <a:pPr algn="l">
              <a:lnSpc>
                <a:spcPts val="4620"/>
              </a:lnSpc>
            </a:pPr>
            <a:r>
              <a:rPr lang="en-US" altLang="en-US" sz="3200"/>
              <a:t>                           Trends → Routes → Snapshots</a:t>
            </a:r>
            <a:endParaRPr lang="en-US" altLang="en-US" sz="3200"/>
          </a:p>
          <a:p>
            <a:pPr algn="l">
              <a:lnSpc>
                <a:spcPts val="4620"/>
              </a:lnSpc>
            </a:pPr>
            <a:r>
              <a:rPr lang="en-US" altLang="en-US" sz="3200"/>
              <a:t>        Prototype: 5,916 Records | 4 Snapshots|1,479/Snapshot</a:t>
            </a:r>
            <a:endParaRPr lang="en-US" altLang="en-US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FEASIBILITY AND VIABILITY</a:t>
              </a:r>
              <a:endParaRPr lang="en-US" sz="54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4</a:t>
              </a:r>
              <a:endParaRPr lang="en-US" sz="1800" b="1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@SIH Idea submission- Template</a:t>
              </a:r>
              <a:endParaRPr lang="en-US" sz="18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AeroPulse</a:t>
              </a:r>
              <a:endPara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7" name="Freeform 1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71550" y="1716405"/>
            <a:ext cx="15447645" cy="76333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780"/>
              </a:lnSpc>
            </a:pPr>
            <a:r>
              <a:rPr lang="en-US" altLang="en-US" sz="32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Why Feasible</a:t>
            </a:r>
            <a:endParaRPr lang="en-US" altLang="en-US" sz="32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780"/>
              </a:lnSpc>
            </a:pP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 algn="l">
              <a:lnSpc>
                <a:spcPts val="3780"/>
              </a:lnSpc>
              <a:buFont typeface="Wingdings" panose="05000000000000000000" charset="0"/>
              <a:buChar char="§"/>
            </a:pPr>
            <a:r>
              <a:rPr lang="en-US" altLang="en-US" sz="27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Proven technologies: Playwright, Python, Pandas, NumPy</a:t>
            </a: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 algn="l">
              <a:lnSpc>
                <a:spcPts val="3780"/>
              </a:lnSpc>
              <a:buFont typeface="Wingdings" panose="05000000000000000000" charset="0"/>
              <a:buChar char="§"/>
            </a:pPr>
            <a:r>
              <a:rPr lang="en-US" altLang="en-US" sz="27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Cleaned prototype data available</a:t>
            </a: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 algn="l">
              <a:lnSpc>
                <a:spcPts val="3780"/>
              </a:lnSpc>
              <a:buFont typeface="Wingdings" panose="05000000000000000000" charset="0"/>
              <a:buChar char="§"/>
            </a:pPr>
            <a:r>
              <a:rPr lang="en-US" altLang="en-US" sz="27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API-based frontend–backend integration</a:t>
            </a: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 algn="l">
              <a:lnSpc>
                <a:spcPts val="3780"/>
              </a:lnSpc>
              <a:buFont typeface="Wingdings" panose="05000000000000000000" charset="0"/>
              <a:buChar char="§"/>
            </a:pPr>
            <a:r>
              <a:rPr lang="en-US" altLang="en-US" sz="27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Easily expandable to more routes &amp; snapshots</a:t>
            </a: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 algn="l">
              <a:lnSpc>
                <a:spcPts val="3780"/>
              </a:lnSpc>
              <a:buFont typeface="Wingdings" panose="05000000000000000000" charset="0"/>
              <a:buChar char="§"/>
            </a:pP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780"/>
              </a:lnSpc>
            </a:pPr>
            <a:r>
              <a:rPr lang="en-US" altLang="en-US" sz="27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Challenges → Solutions</a:t>
            </a:r>
            <a:endParaRPr lang="en-US" altLang="en-US" sz="27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780"/>
              </a:lnSpc>
            </a:pP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 algn="l">
              <a:lnSpc>
                <a:spcPts val="3780"/>
              </a:lnSpc>
              <a:buFont typeface="Wingdings" panose="05000000000000000000" charset="0"/>
              <a:buChar char="§"/>
            </a:pPr>
            <a:r>
              <a:rPr lang="en-US" altLang="en-US" sz="27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Dynamic websites → Playwright</a:t>
            </a: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 algn="l">
              <a:lnSpc>
                <a:spcPts val="3780"/>
              </a:lnSpc>
              <a:buFont typeface="Wingdings" panose="05000000000000000000" charset="0"/>
              <a:buChar char="§"/>
            </a:pPr>
            <a:r>
              <a:rPr lang="en-US" altLang="en-US" sz="27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inconsistencies → Cleaning &amp; validation</a:t>
            </a: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 algn="l">
              <a:lnSpc>
                <a:spcPts val="3780"/>
              </a:lnSpc>
              <a:buFont typeface="Wingdings" panose="05000000000000000000" charset="0"/>
              <a:buChar char="§"/>
            </a:pPr>
            <a:r>
              <a:rPr lang="en-US" altLang="en-US" sz="27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Different horizons → Horizon-specific indices</a:t>
            </a: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 algn="l">
              <a:lnSpc>
                <a:spcPts val="3780"/>
              </a:lnSpc>
              <a:buFont typeface="Wingdings" panose="05000000000000000000" charset="0"/>
              <a:buChar char="§"/>
            </a:pPr>
            <a:r>
              <a:rPr lang="en-US" altLang="en-US" sz="27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Price fluctuations → Geometric mean</a:t>
            </a: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780"/>
              </a:lnSpc>
            </a:pPr>
            <a:endParaRPr lang="en-US" alt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780"/>
              </a:lnSpc>
            </a:pPr>
            <a:r>
              <a:rPr lang="en-US" altLang="en-US" sz="2700" b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Scalable:</a:t>
            </a:r>
            <a:endParaRPr lang="en-US" altLang="en-US" sz="2700" b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 algn="l">
              <a:lnSpc>
                <a:spcPts val="3780"/>
              </a:lnSpc>
              <a:buFont typeface="Wingdings" panose="05000000000000000000" charset="0"/>
              <a:buChar char="§"/>
            </a:pPr>
            <a:r>
              <a:rPr lang="en-US" altLang="en-US" sz="27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More Routes → More Data → Better Index</a:t>
            </a:r>
            <a:endParaRPr lang="en-US" sz="27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1066800" y="287972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IMPACT AND BENEFITS</a:t>
              </a:r>
              <a:endParaRPr lang="en-US" sz="54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5</a:t>
              </a:r>
              <a:endParaRPr lang="en-US" sz="1800" b="1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@SIH Idea submission- Template</a:t>
              </a:r>
              <a:endParaRPr lang="en-US" sz="18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AeroSpace</a:t>
              </a:r>
              <a:endPara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7" name="Freeform 1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cxnSp>
        <p:nvCxnSpPr>
          <p:cNvPr id="50" name="直接连接符 49"/>
          <p:cNvCxnSpPr/>
          <p:nvPr>
            <p:custDataLst>
              <p:tags r:id="rId3"/>
            </p:custDataLst>
          </p:nvPr>
        </p:nvCxnSpPr>
        <p:spPr>
          <a:xfrm>
            <a:off x="3676174" y="7759240"/>
            <a:ext cx="493446" cy="0"/>
          </a:xfrm>
          <a:prstGeom prst="line">
            <a:avLst/>
          </a:prstGeom>
          <a:ln w="4445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圆角矩形 59"/>
          <p:cNvSpPr/>
          <p:nvPr>
            <p:custDataLst>
              <p:tags r:id="rId4"/>
            </p:custDataLst>
          </p:nvPr>
        </p:nvSpPr>
        <p:spPr>
          <a:xfrm>
            <a:off x="2252488" y="2827243"/>
            <a:ext cx="3341639" cy="5189804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矩形 2"/>
          <p:cNvSpPr/>
          <p:nvPr>
            <p:custDataLst>
              <p:tags r:id="rId5"/>
            </p:custDataLst>
          </p:nvPr>
        </p:nvSpPr>
        <p:spPr>
          <a:xfrm>
            <a:off x="2474169" y="4339601"/>
            <a:ext cx="2897456" cy="3019791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*Track airfare trends</a:t>
            </a:r>
            <a:endParaRPr lang="en-US" altLang="en-US" sz="2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*Compare routes</a:t>
            </a:r>
            <a:endParaRPr lang="en-US" altLang="en-US" sz="2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*Plan bookings better</a:t>
            </a:r>
            <a:endParaRPr lang="en-US" altLang="en-US" sz="2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9" name="矩形 4"/>
          <p:cNvSpPr/>
          <p:nvPr>
            <p:custDataLst>
              <p:tags r:id="rId6"/>
            </p:custDataLst>
          </p:nvPr>
        </p:nvSpPr>
        <p:spPr>
          <a:xfrm>
            <a:off x="2469056" y="3345105"/>
            <a:ext cx="2908117" cy="79977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200" b="1" kern="0">
                <a:solidFill>
                  <a:schemeClr val="accent1"/>
                </a:solidFill>
                <a:latin typeface="+mj-lt"/>
              </a:rPr>
              <a:t>PASSENGERS</a:t>
            </a:r>
            <a:endParaRPr lang="en-US" sz="3200" b="1" kern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7" name="椭圆 66"/>
          <p:cNvSpPr/>
          <p:nvPr>
            <p:custDataLst>
              <p:tags r:id="rId7"/>
            </p:custDataLst>
          </p:nvPr>
        </p:nvSpPr>
        <p:spPr>
          <a:xfrm>
            <a:off x="3428220" y="2296029"/>
            <a:ext cx="989355" cy="989355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椭圆 67"/>
          <p:cNvSpPr/>
          <p:nvPr>
            <p:custDataLst>
              <p:tags r:id="rId8"/>
            </p:custDataLst>
          </p:nvPr>
        </p:nvSpPr>
        <p:spPr>
          <a:xfrm>
            <a:off x="3461882" y="2295208"/>
            <a:ext cx="922030" cy="922030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46" name="直接连接符 45"/>
          <p:cNvCxnSpPr/>
          <p:nvPr>
            <p:custDataLst>
              <p:tags r:id="rId9"/>
            </p:custDataLst>
          </p:nvPr>
        </p:nvCxnSpPr>
        <p:spPr>
          <a:xfrm>
            <a:off x="7196801" y="7759240"/>
            <a:ext cx="493446" cy="0"/>
          </a:xfrm>
          <a:prstGeom prst="line">
            <a:avLst/>
          </a:prstGeom>
          <a:ln w="44450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圆角矩形 60"/>
          <p:cNvSpPr/>
          <p:nvPr>
            <p:custDataLst>
              <p:tags r:id="rId10"/>
            </p:custDataLst>
          </p:nvPr>
        </p:nvSpPr>
        <p:spPr>
          <a:xfrm>
            <a:off x="5772294" y="2827243"/>
            <a:ext cx="3341639" cy="5189804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椭圆 73"/>
          <p:cNvSpPr/>
          <p:nvPr>
            <p:custDataLst>
              <p:tags r:id="rId11"/>
            </p:custDataLst>
          </p:nvPr>
        </p:nvSpPr>
        <p:spPr>
          <a:xfrm>
            <a:off x="6948846" y="2296029"/>
            <a:ext cx="989355" cy="989355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椭圆 74"/>
          <p:cNvSpPr/>
          <p:nvPr>
            <p:custDataLst>
              <p:tags r:id="rId12"/>
            </p:custDataLst>
          </p:nvPr>
        </p:nvSpPr>
        <p:spPr>
          <a:xfrm>
            <a:off x="6982509" y="2295208"/>
            <a:ext cx="922030" cy="922030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矩形 5"/>
          <p:cNvSpPr/>
          <p:nvPr>
            <p:custDataLst>
              <p:tags r:id="rId13"/>
            </p:custDataLst>
          </p:nvPr>
        </p:nvSpPr>
        <p:spPr>
          <a:xfrm>
            <a:off x="5994796" y="4339601"/>
            <a:ext cx="2897456" cy="3019791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*Monitor airfare trends</a:t>
            </a:r>
            <a:endParaRPr lang="en-US" altLang="en-US" sz="28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*Detect unusual price movements</a:t>
            </a:r>
            <a:endParaRPr lang="en-US" altLang="en-US" sz="28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*Support policy decisions</a:t>
            </a:r>
            <a:endParaRPr lang="en-US" altLang="en-US" sz="28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34" name="矩形 7"/>
          <p:cNvSpPr/>
          <p:nvPr>
            <p:custDataLst>
              <p:tags r:id="rId14"/>
            </p:custDataLst>
          </p:nvPr>
        </p:nvSpPr>
        <p:spPr>
          <a:xfrm>
            <a:off x="5989049" y="3572748"/>
            <a:ext cx="2908129" cy="572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800" b="1" kern="0">
                <a:solidFill>
                  <a:schemeClr val="accent2"/>
                </a:solidFill>
                <a:latin typeface="+mj-lt"/>
              </a:rPr>
              <a:t>GOVERNMENT</a:t>
            </a:r>
            <a:endParaRPr lang="en-US" sz="2800" b="1" kern="0">
              <a:solidFill>
                <a:schemeClr val="accent2"/>
              </a:solidFill>
              <a:latin typeface="+mj-lt"/>
            </a:endParaRPr>
          </a:p>
        </p:txBody>
      </p:sp>
      <p:cxnSp>
        <p:nvCxnSpPr>
          <p:cNvPr id="51" name="直接连接符 50"/>
          <p:cNvCxnSpPr/>
          <p:nvPr>
            <p:custDataLst>
              <p:tags r:id="rId15"/>
            </p:custDataLst>
          </p:nvPr>
        </p:nvCxnSpPr>
        <p:spPr>
          <a:xfrm>
            <a:off x="10716605" y="7759240"/>
            <a:ext cx="493446" cy="0"/>
          </a:xfrm>
          <a:prstGeom prst="line">
            <a:avLst/>
          </a:prstGeom>
          <a:ln w="4445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>
            <p:custDataLst>
              <p:tags r:id="rId16"/>
            </p:custDataLst>
          </p:nvPr>
        </p:nvSpPr>
        <p:spPr>
          <a:xfrm>
            <a:off x="9260349" y="2881853"/>
            <a:ext cx="3341639" cy="5189804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椭圆 79"/>
          <p:cNvSpPr/>
          <p:nvPr>
            <p:custDataLst>
              <p:tags r:id="rId17"/>
            </p:custDataLst>
          </p:nvPr>
        </p:nvSpPr>
        <p:spPr>
          <a:xfrm>
            <a:off x="10468650" y="2296029"/>
            <a:ext cx="989355" cy="989355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1" name="椭圆 80"/>
          <p:cNvSpPr/>
          <p:nvPr>
            <p:custDataLst>
              <p:tags r:id="rId18"/>
            </p:custDataLst>
          </p:nvPr>
        </p:nvSpPr>
        <p:spPr>
          <a:xfrm>
            <a:off x="10502313" y="2295208"/>
            <a:ext cx="922030" cy="922030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矩形 8"/>
          <p:cNvSpPr/>
          <p:nvPr>
            <p:custDataLst>
              <p:tags r:id="rId19"/>
            </p:custDataLst>
          </p:nvPr>
        </p:nvSpPr>
        <p:spPr>
          <a:xfrm>
            <a:off x="9514600" y="4339601"/>
            <a:ext cx="2897456" cy="3019791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*Analyze market trends</a:t>
            </a:r>
            <a:endParaRPr lang="en-US" altLang="en-US" sz="2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*Study route pricing</a:t>
            </a:r>
            <a:endParaRPr lang="en-US" altLang="en-US" sz="2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37" name="矩形 9"/>
          <p:cNvSpPr/>
          <p:nvPr>
            <p:custDataLst>
              <p:tags r:id="rId20"/>
            </p:custDataLst>
          </p:nvPr>
        </p:nvSpPr>
        <p:spPr>
          <a:xfrm>
            <a:off x="9508853" y="3572748"/>
            <a:ext cx="2908129" cy="572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 kern="0">
                <a:solidFill>
                  <a:schemeClr val="accent1"/>
                </a:solidFill>
                <a:latin typeface="+mj-lt"/>
              </a:rPr>
              <a:t>AVIATION INDUSTRY</a:t>
            </a:r>
            <a:endParaRPr lang="en-US" sz="2400" b="1" kern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55" name="直接连接符 54"/>
          <p:cNvCxnSpPr/>
          <p:nvPr>
            <p:custDataLst>
              <p:tags r:id="rId21"/>
            </p:custDataLst>
          </p:nvPr>
        </p:nvCxnSpPr>
        <p:spPr>
          <a:xfrm>
            <a:off x="14236412" y="7759240"/>
            <a:ext cx="493446" cy="0"/>
          </a:xfrm>
          <a:prstGeom prst="line">
            <a:avLst/>
          </a:prstGeom>
          <a:ln w="44450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圆角矩形 62"/>
          <p:cNvSpPr/>
          <p:nvPr>
            <p:custDataLst>
              <p:tags r:id="rId22"/>
            </p:custDataLst>
          </p:nvPr>
        </p:nvSpPr>
        <p:spPr>
          <a:xfrm>
            <a:off x="12811904" y="2827243"/>
            <a:ext cx="3341639" cy="5189804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6" name="椭圆 85"/>
          <p:cNvSpPr/>
          <p:nvPr>
            <p:custDataLst>
              <p:tags r:id="rId23"/>
            </p:custDataLst>
          </p:nvPr>
        </p:nvSpPr>
        <p:spPr>
          <a:xfrm>
            <a:off x="13988457" y="2296029"/>
            <a:ext cx="989355" cy="989355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7" name="椭圆 86"/>
          <p:cNvSpPr/>
          <p:nvPr>
            <p:custDataLst>
              <p:tags r:id="rId24"/>
            </p:custDataLst>
          </p:nvPr>
        </p:nvSpPr>
        <p:spPr>
          <a:xfrm>
            <a:off x="14022120" y="2295208"/>
            <a:ext cx="922030" cy="922030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矩形 10"/>
          <p:cNvSpPr/>
          <p:nvPr>
            <p:custDataLst>
              <p:tags r:id="rId25"/>
            </p:custDataLst>
          </p:nvPr>
        </p:nvSpPr>
        <p:spPr>
          <a:xfrm>
            <a:off x="13034407" y="4339601"/>
            <a:ext cx="2897456" cy="3019791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*Historical airfare data</a:t>
            </a:r>
            <a:endParaRPr lang="en-US" altLang="en-US" sz="2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*Standardized trend analysis</a:t>
            </a:r>
            <a:endParaRPr lang="en-US" altLang="en-US" sz="2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1" name="矩形 11"/>
          <p:cNvSpPr/>
          <p:nvPr>
            <p:custDataLst>
              <p:tags r:id="rId26"/>
            </p:custDataLst>
          </p:nvPr>
        </p:nvSpPr>
        <p:spPr>
          <a:xfrm>
            <a:off x="13028659" y="3572748"/>
            <a:ext cx="2908131" cy="572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800" b="1" kern="0">
                <a:solidFill>
                  <a:schemeClr val="accent2"/>
                </a:solidFill>
                <a:latin typeface="+mj-lt"/>
              </a:rPr>
              <a:t>RESEARCHERS</a:t>
            </a:r>
            <a:endParaRPr lang="en-US" sz="2800" b="1" kern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2" name="任意多边形: 形状 3"/>
          <p:cNvSpPr/>
          <p:nvPr>
            <p:custDataLst>
              <p:tags r:id="rId27"/>
            </p:custDataLst>
          </p:nvPr>
        </p:nvSpPr>
        <p:spPr>
          <a:xfrm>
            <a:off x="3762384" y="2570257"/>
            <a:ext cx="320995" cy="372484"/>
          </a:xfrm>
          <a:custGeom>
            <a:avLst/>
            <a:gdLst>
              <a:gd name="connsiteX0" fmla="*/ 113601 w 228002"/>
              <a:gd name="connsiteY0" fmla="*/ 189619 h 189924"/>
              <a:gd name="connsiteX1" fmla="*/ 98370 w 228002"/>
              <a:gd name="connsiteY1" fmla="*/ 184343 h 189924"/>
              <a:gd name="connsiteX2" fmla="*/ 8981 w 228002"/>
              <a:gd name="connsiteY2" fmla="*/ 113888 h 189924"/>
              <a:gd name="connsiteX3" fmla="*/ -379 w 228002"/>
              <a:gd name="connsiteY3" fmla="*/ 94572 h 189924"/>
              <a:gd name="connsiteX4" fmla="*/ 8981 w 228002"/>
              <a:gd name="connsiteY4" fmla="*/ 75256 h 189924"/>
              <a:gd name="connsiteX5" fmla="*/ 98413 w 228002"/>
              <a:gd name="connsiteY5" fmla="*/ 4800 h 189924"/>
              <a:gd name="connsiteX6" fmla="*/ 128833 w 228002"/>
              <a:gd name="connsiteY6" fmla="*/ 4800 h 189924"/>
              <a:gd name="connsiteX7" fmla="*/ 218264 w 228002"/>
              <a:gd name="connsiteY7" fmla="*/ 75256 h 189924"/>
              <a:gd name="connsiteX8" fmla="*/ 227624 w 228002"/>
              <a:gd name="connsiteY8" fmla="*/ 94572 h 189924"/>
              <a:gd name="connsiteX9" fmla="*/ 218264 w 228002"/>
              <a:gd name="connsiteY9" fmla="*/ 113888 h 189924"/>
              <a:gd name="connsiteX10" fmla="*/ 128833 w 228002"/>
              <a:gd name="connsiteY10" fmla="*/ 184343 h 189924"/>
              <a:gd name="connsiteX11" fmla="*/ 113601 w 228002"/>
              <a:gd name="connsiteY11" fmla="*/ 189619 h 189924"/>
              <a:gd name="connsiteX12" fmla="*/ 113601 w 228002"/>
              <a:gd name="connsiteY12" fmla="*/ 15947 h 189924"/>
              <a:gd name="connsiteX13" fmla="*/ 108538 w 228002"/>
              <a:gd name="connsiteY13" fmla="*/ 17692 h 189924"/>
              <a:gd name="connsiteX14" fmla="*/ 19107 w 228002"/>
              <a:gd name="connsiteY14" fmla="*/ 88148 h 189924"/>
              <a:gd name="connsiteX15" fmla="*/ 16001 w 228002"/>
              <a:gd name="connsiteY15" fmla="*/ 94572 h 189924"/>
              <a:gd name="connsiteX16" fmla="*/ 19107 w 228002"/>
              <a:gd name="connsiteY16" fmla="*/ 100996 h 189924"/>
              <a:gd name="connsiteX17" fmla="*/ 108538 w 228002"/>
              <a:gd name="connsiteY17" fmla="*/ 171452 h 189924"/>
              <a:gd name="connsiteX18" fmla="*/ 118664 w 228002"/>
              <a:gd name="connsiteY18" fmla="*/ 171452 h 189924"/>
              <a:gd name="connsiteX19" fmla="*/ 208096 w 228002"/>
              <a:gd name="connsiteY19" fmla="*/ 100996 h 189924"/>
              <a:gd name="connsiteX20" fmla="*/ 211201 w 228002"/>
              <a:gd name="connsiteY20" fmla="*/ 94572 h 189924"/>
              <a:gd name="connsiteX21" fmla="*/ 208096 w 228002"/>
              <a:gd name="connsiteY21" fmla="*/ 88148 h 189924"/>
              <a:gd name="connsiteX22" fmla="*/ 118707 w 228002"/>
              <a:gd name="connsiteY22" fmla="*/ 17692 h 189924"/>
              <a:gd name="connsiteX23" fmla="*/ 113601 w 228002"/>
              <a:gd name="connsiteY23" fmla="*/ 15947 h 18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91" h="454">
                <a:moveTo>
                  <a:pt x="195" y="299"/>
                </a:moveTo>
                <a:cubicBezTo>
                  <a:pt x="187" y="299"/>
                  <a:pt x="178" y="296"/>
                  <a:pt x="171" y="291"/>
                </a:cubicBezTo>
                <a:lnTo>
                  <a:pt x="31" y="180"/>
                </a:lnTo>
                <a:cubicBezTo>
                  <a:pt x="21" y="172"/>
                  <a:pt x="16" y="161"/>
                  <a:pt x="16" y="149"/>
                </a:cubicBezTo>
                <a:cubicBezTo>
                  <a:pt x="16" y="137"/>
                  <a:pt x="21" y="126"/>
                  <a:pt x="31" y="119"/>
                </a:cubicBezTo>
                <a:lnTo>
                  <a:pt x="171" y="8"/>
                </a:lnTo>
                <a:cubicBezTo>
                  <a:pt x="185" y="-3"/>
                  <a:pt x="206" y="-3"/>
                  <a:pt x="219" y="8"/>
                </a:cubicBezTo>
                <a:lnTo>
                  <a:pt x="360" y="119"/>
                </a:lnTo>
                <a:cubicBezTo>
                  <a:pt x="370" y="126"/>
                  <a:pt x="375" y="137"/>
                  <a:pt x="375" y="149"/>
                </a:cubicBezTo>
                <a:cubicBezTo>
                  <a:pt x="375" y="161"/>
                  <a:pt x="370" y="172"/>
                  <a:pt x="360" y="180"/>
                </a:cubicBezTo>
                <a:lnTo>
                  <a:pt x="219" y="291"/>
                </a:lnTo>
                <a:cubicBezTo>
                  <a:pt x="213" y="296"/>
                  <a:pt x="204" y="299"/>
                  <a:pt x="195" y="299"/>
                </a:cubicBezTo>
                <a:close/>
                <a:moveTo>
                  <a:pt x="195" y="26"/>
                </a:moveTo>
                <a:cubicBezTo>
                  <a:pt x="192" y="26"/>
                  <a:pt x="190" y="27"/>
                  <a:pt x="187" y="28"/>
                </a:cubicBezTo>
                <a:lnTo>
                  <a:pt x="47" y="139"/>
                </a:lnTo>
                <a:cubicBezTo>
                  <a:pt x="43" y="142"/>
                  <a:pt x="42" y="145"/>
                  <a:pt x="42" y="149"/>
                </a:cubicBezTo>
                <a:cubicBezTo>
                  <a:pt x="42" y="153"/>
                  <a:pt x="44" y="157"/>
                  <a:pt x="47" y="160"/>
                </a:cubicBezTo>
                <a:lnTo>
                  <a:pt x="187" y="270"/>
                </a:lnTo>
                <a:cubicBezTo>
                  <a:pt x="192" y="274"/>
                  <a:pt x="199" y="274"/>
                  <a:pt x="203" y="270"/>
                </a:cubicBezTo>
                <a:lnTo>
                  <a:pt x="344" y="160"/>
                </a:lnTo>
                <a:cubicBezTo>
                  <a:pt x="347" y="157"/>
                  <a:pt x="349" y="153"/>
                  <a:pt x="349" y="149"/>
                </a:cubicBezTo>
                <a:cubicBezTo>
                  <a:pt x="349" y="145"/>
                  <a:pt x="347" y="142"/>
                  <a:pt x="344" y="139"/>
                </a:cubicBezTo>
                <a:lnTo>
                  <a:pt x="203" y="28"/>
                </a:lnTo>
                <a:cubicBezTo>
                  <a:pt x="201" y="27"/>
                  <a:pt x="198" y="26"/>
                  <a:pt x="195" y="26"/>
                </a:cubicBezTo>
                <a:close/>
                <a:moveTo>
                  <a:pt x="195" y="376"/>
                </a:moveTo>
                <a:cubicBezTo>
                  <a:pt x="187" y="376"/>
                  <a:pt x="179" y="374"/>
                  <a:pt x="171" y="368"/>
                </a:cubicBezTo>
                <a:lnTo>
                  <a:pt x="5" y="237"/>
                </a:lnTo>
                <a:cubicBezTo>
                  <a:pt x="-1" y="232"/>
                  <a:pt x="-2" y="224"/>
                  <a:pt x="3" y="219"/>
                </a:cubicBezTo>
                <a:cubicBezTo>
                  <a:pt x="7" y="213"/>
                  <a:pt x="15" y="212"/>
                  <a:pt x="21" y="216"/>
                </a:cubicBezTo>
                <a:lnTo>
                  <a:pt x="188" y="348"/>
                </a:lnTo>
                <a:cubicBezTo>
                  <a:pt x="192" y="351"/>
                  <a:pt x="199" y="351"/>
                  <a:pt x="203" y="348"/>
                </a:cubicBezTo>
                <a:lnTo>
                  <a:pt x="370" y="216"/>
                </a:lnTo>
                <a:cubicBezTo>
                  <a:pt x="376" y="212"/>
                  <a:pt x="384" y="213"/>
                  <a:pt x="388" y="219"/>
                </a:cubicBezTo>
                <a:cubicBezTo>
                  <a:pt x="393" y="224"/>
                  <a:pt x="392" y="232"/>
                  <a:pt x="386" y="237"/>
                </a:cubicBezTo>
                <a:lnTo>
                  <a:pt x="219" y="368"/>
                </a:lnTo>
                <a:cubicBezTo>
                  <a:pt x="212" y="374"/>
                  <a:pt x="204" y="376"/>
                  <a:pt x="195" y="376"/>
                </a:cubicBezTo>
                <a:close/>
                <a:moveTo>
                  <a:pt x="195" y="454"/>
                </a:moveTo>
                <a:cubicBezTo>
                  <a:pt x="187" y="454"/>
                  <a:pt x="179" y="451"/>
                  <a:pt x="171" y="445"/>
                </a:cubicBezTo>
                <a:lnTo>
                  <a:pt x="5" y="314"/>
                </a:lnTo>
                <a:cubicBezTo>
                  <a:pt x="-1" y="310"/>
                  <a:pt x="-2" y="302"/>
                  <a:pt x="3" y="296"/>
                </a:cubicBezTo>
                <a:cubicBezTo>
                  <a:pt x="7" y="290"/>
                  <a:pt x="15" y="289"/>
                  <a:pt x="21" y="294"/>
                </a:cubicBezTo>
                <a:lnTo>
                  <a:pt x="188" y="425"/>
                </a:lnTo>
                <a:cubicBezTo>
                  <a:pt x="192" y="429"/>
                  <a:pt x="199" y="429"/>
                  <a:pt x="203" y="425"/>
                </a:cubicBezTo>
                <a:lnTo>
                  <a:pt x="370" y="294"/>
                </a:lnTo>
                <a:cubicBezTo>
                  <a:pt x="376" y="289"/>
                  <a:pt x="384" y="290"/>
                  <a:pt x="388" y="296"/>
                </a:cubicBezTo>
                <a:cubicBezTo>
                  <a:pt x="393" y="302"/>
                  <a:pt x="392" y="310"/>
                  <a:pt x="386" y="314"/>
                </a:cubicBezTo>
                <a:lnTo>
                  <a:pt x="219" y="445"/>
                </a:lnTo>
                <a:cubicBezTo>
                  <a:pt x="212" y="451"/>
                  <a:pt x="204" y="454"/>
                  <a:pt x="195" y="454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14"/>
          <p:cNvSpPr/>
          <p:nvPr>
            <p:custDataLst>
              <p:tags r:id="rId28"/>
            </p:custDataLst>
          </p:nvPr>
        </p:nvSpPr>
        <p:spPr>
          <a:xfrm>
            <a:off x="10776542" y="2606382"/>
            <a:ext cx="372298" cy="299327"/>
          </a:xfrm>
          <a:custGeom>
            <a:avLst/>
            <a:gdLst>
              <a:gd name="connsiteX0" fmla="*/ 31388 w 63540"/>
              <a:gd name="connsiteY0" fmla="*/ 63280 h 63540"/>
              <a:gd name="connsiteX1" fmla="*/ -382 w 63540"/>
              <a:gd name="connsiteY1" fmla="*/ 31509 h 63540"/>
              <a:gd name="connsiteX2" fmla="*/ 31388 w 63540"/>
              <a:gd name="connsiteY2" fmla="*/ -261 h 63540"/>
              <a:gd name="connsiteX3" fmla="*/ 63159 w 63540"/>
              <a:gd name="connsiteY3" fmla="*/ 31509 h 63540"/>
              <a:gd name="connsiteX4" fmla="*/ 31388 w 63540"/>
              <a:gd name="connsiteY4" fmla="*/ 63280 h 63540"/>
              <a:gd name="connsiteX5" fmla="*/ 31388 w 63540"/>
              <a:gd name="connsiteY5" fmla="*/ 15197 h 63540"/>
              <a:gd name="connsiteX6" fmla="*/ 15076 w 63540"/>
              <a:gd name="connsiteY6" fmla="*/ 31509 h 63540"/>
              <a:gd name="connsiteX7" fmla="*/ 31388 w 63540"/>
              <a:gd name="connsiteY7" fmla="*/ 47822 h 63540"/>
              <a:gd name="connsiteX8" fmla="*/ 47701 w 63540"/>
              <a:gd name="connsiteY8" fmla="*/ 31509 h 63540"/>
              <a:gd name="connsiteX9" fmla="*/ 31388 w 63540"/>
              <a:gd name="connsiteY9" fmla="*/ 15197 h 6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3" h="365">
                <a:moveTo>
                  <a:pt x="112" y="314"/>
                </a:moveTo>
                <a:cubicBezTo>
                  <a:pt x="111" y="314"/>
                  <a:pt x="110" y="315"/>
                  <a:pt x="110" y="316"/>
                </a:cubicBezTo>
                <a:lnTo>
                  <a:pt x="110" y="338"/>
                </a:lnTo>
                <a:cubicBezTo>
                  <a:pt x="110" y="339"/>
                  <a:pt x="111" y="340"/>
                  <a:pt x="112" y="340"/>
                </a:cubicBezTo>
                <a:lnTo>
                  <a:pt x="339" y="340"/>
                </a:lnTo>
                <a:cubicBezTo>
                  <a:pt x="340" y="340"/>
                  <a:pt x="341" y="339"/>
                  <a:pt x="341" y="338"/>
                </a:cubicBezTo>
                <a:lnTo>
                  <a:pt x="341" y="316"/>
                </a:lnTo>
                <a:cubicBezTo>
                  <a:pt x="341" y="315"/>
                  <a:pt x="340" y="314"/>
                  <a:pt x="339" y="314"/>
                </a:cubicBezTo>
                <a:lnTo>
                  <a:pt x="112" y="314"/>
                </a:lnTo>
                <a:close/>
                <a:moveTo>
                  <a:pt x="377" y="209"/>
                </a:moveTo>
                <a:lnTo>
                  <a:pt x="377" y="236"/>
                </a:lnTo>
                <a:lnTo>
                  <a:pt x="429" y="236"/>
                </a:lnTo>
                <a:lnTo>
                  <a:pt x="429" y="209"/>
                </a:lnTo>
                <a:lnTo>
                  <a:pt x="377" y="209"/>
                </a:lnTo>
                <a:close/>
                <a:moveTo>
                  <a:pt x="24" y="209"/>
                </a:moveTo>
                <a:lnTo>
                  <a:pt x="24" y="236"/>
                </a:lnTo>
                <a:lnTo>
                  <a:pt x="77" y="236"/>
                </a:lnTo>
                <a:lnTo>
                  <a:pt x="77" y="209"/>
                </a:lnTo>
                <a:lnTo>
                  <a:pt x="24" y="209"/>
                </a:lnTo>
                <a:close/>
                <a:moveTo>
                  <a:pt x="227" y="24"/>
                </a:moveTo>
                <a:cubicBezTo>
                  <a:pt x="213" y="24"/>
                  <a:pt x="201" y="36"/>
                  <a:pt x="201" y="50"/>
                </a:cubicBezTo>
                <a:cubicBezTo>
                  <a:pt x="201" y="64"/>
                  <a:pt x="213" y="76"/>
                  <a:pt x="227" y="76"/>
                </a:cubicBezTo>
                <a:cubicBezTo>
                  <a:pt x="241" y="76"/>
                  <a:pt x="252" y="64"/>
                  <a:pt x="252" y="50"/>
                </a:cubicBezTo>
                <a:cubicBezTo>
                  <a:pt x="252" y="36"/>
                  <a:pt x="241" y="24"/>
                  <a:pt x="227" y="24"/>
                </a:cubicBezTo>
                <a:close/>
                <a:moveTo>
                  <a:pt x="227" y="0"/>
                </a:moveTo>
                <a:cubicBezTo>
                  <a:pt x="249" y="0"/>
                  <a:pt x="268" y="15"/>
                  <a:pt x="274" y="35"/>
                </a:cubicBezTo>
                <a:lnTo>
                  <a:pt x="275" y="36"/>
                </a:lnTo>
                <a:lnTo>
                  <a:pt x="380" y="36"/>
                </a:lnTo>
                <a:cubicBezTo>
                  <a:pt x="401" y="36"/>
                  <a:pt x="418" y="53"/>
                  <a:pt x="418" y="74"/>
                </a:cubicBezTo>
                <a:lnTo>
                  <a:pt x="418" y="185"/>
                </a:lnTo>
                <a:lnTo>
                  <a:pt x="429" y="185"/>
                </a:lnTo>
                <a:cubicBezTo>
                  <a:pt x="443" y="185"/>
                  <a:pt x="453" y="196"/>
                  <a:pt x="453" y="209"/>
                </a:cubicBezTo>
                <a:lnTo>
                  <a:pt x="453" y="236"/>
                </a:lnTo>
                <a:cubicBezTo>
                  <a:pt x="454" y="249"/>
                  <a:pt x="443" y="260"/>
                  <a:pt x="429" y="260"/>
                </a:cubicBezTo>
                <a:lnTo>
                  <a:pt x="377" y="260"/>
                </a:lnTo>
                <a:cubicBezTo>
                  <a:pt x="363" y="260"/>
                  <a:pt x="352" y="249"/>
                  <a:pt x="352" y="236"/>
                </a:cubicBezTo>
                <a:lnTo>
                  <a:pt x="352" y="209"/>
                </a:lnTo>
                <a:cubicBezTo>
                  <a:pt x="352" y="196"/>
                  <a:pt x="363" y="185"/>
                  <a:pt x="377" y="185"/>
                </a:cubicBezTo>
                <a:lnTo>
                  <a:pt x="393" y="185"/>
                </a:lnTo>
                <a:lnTo>
                  <a:pt x="393" y="73"/>
                </a:lnTo>
                <a:cubicBezTo>
                  <a:pt x="393" y="66"/>
                  <a:pt x="387" y="60"/>
                  <a:pt x="380" y="60"/>
                </a:cubicBezTo>
                <a:lnTo>
                  <a:pt x="276" y="60"/>
                </a:lnTo>
                <a:lnTo>
                  <a:pt x="274" y="67"/>
                </a:lnTo>
                <a:cubicBezTo>
                  <a:pt x="268" y="83"/>
                  <a:pt x="254" y="95"/>
                  <a:pt x="237" y="99"/>
                </a:cubicBezTo>
                <a:lnTo>
                  <a:pt x="237" y="99"/>
                </a:lnTo>
                <a:lnTo>
                  <a:pt x="237" y="290"/>
                </a:lnTo>
                <a:lnTo>
                  <a:pt x="339" y="290"/>
                </a:lnTo>
                <a:cubicBezTo>
                  <a:pt x="354" y="290"/>
                  <a:pt x="366" y="301"/>
                  <a:pt x="366" y="316"/>
                </a:cubicBezTo>
                <a:lnTo>
                  <a:pt x="366" y="338"/>
                </a:lnTo>
                <a:cubicBezTo>
                  <a:pt x="366" y="353"/>
                  <a:pt x="354" y="365"/>
                  <a:pt x="339" y="365"/>
                </a:cubicBezTo>
                <a:lnTo>
                  <a:pt x="112" y="365"/>
                </a:lnTo>
                <a:cubicBezTo>
                  <a:pt x="98" y="365"/>
                  <a:pt x="86" y="353"/>
                  <a:pt x="86" y="338"/>
                </a:cubicBezTo>
                <a:lnTo>
                  <a:pt x="86" y="316"/>
                </a:lnTo>
                <a:cubicBezTo>
                  <a:pt x="86" y="301"/>
                  <a:pt x="98" y="290"/>
                  <a:pt x="112" y="290"/>
                </a:cubicBezTo>
                <a:lnTo>
                  <a:pt x="213" y="290"/>
                </a:lnTo>
                <a:lnTo>
                  <a:pt x="213" y="99"/>
                </a:lnTo>
                <a:lnTo>
                  <a:pt x="216" y="99"/>
                </a:lnTo>
                <a:lnTo>
                  <a:pt x="212" y="98"/>
                </a:lnTo>
                <a:cubicBezTo>
                  <a:pt x="197" y="93"/>
                  <a:pt x="184" y="81"/>
                  <a:pt x="179" y="66"/>
                </a:cubicBezTo>
                <a:lnTo>
                  <a:pt x="178" y="60"/>
                </a:lnTo>
                <a:lnTo>
                  <a:pt x="74" y="60"/>
                </a:lnTo>
                <a:cubicBezTo>
                  <a:pt x="66" y="60"/>
                  <a:pt x="60" y="66"/>
                  <a:pt x="60" y="73"/>
                </a:cubicBezTo>
                <a:lnTo>
                  <a:pt x="60" y="185"/>
                </a:lnTo>
                <a:lnTo>
                  <a:pt x="77" y="185"/>
                </a:lnTo>
                <a:cubicBezTo>
                  <a:pt x="90" y="185"/>
                  <a:pt x="101" y="196"/>
                  <a:pt x="101" y="209"/>
                </a:cubicBezTo>
                <a:lnTo>
                  <a:pt x="101" y="236"/>
                </a:lnTo>
                <a:cubicBezTo>
                  <a:pt x="101" y="249"/>
                  <a:pt x="90" y="260"/>
                  <a:pt x="77" y="260"/>
                </a:cubicBezTo>
                <a:lnTo>
                  <a:pt x="24" y="260"/>
                </a:lnTo>
                <a:cubicBezTo>
                  <a:pt x="11" y="260"/>
                  <a:pt x="0" y="249"/>
                  <a:pt x="0" y="236"/>
                </a:cubicBezTo>
                <a:lnTo>
                  <a:pt x="0" y="209"/>
                </a:lnTo>
                <a:cubicBezTo>
                  <a:pt x="0" y="196"/>
                  <a:pt x="11" y="185"/>
                  <a:pt x="24" y="185"/>
                </a:cubicBezTo>
                <a:lnTo>
                  <a:pt x="36" y="185"/>
                </a:lnTo>
                <a:lnTo>
                  <a:pt x="36" y="74"/>
                </a:lnTo>
                <a:cubicBezTo>
                  <a:pt x="36" y="53"/>
                  <a:pt x="53" y="36"/>
                  <a:pt x="74" y="36"/>
                </a:cubicBezTo>
                <a:lnTo>
                  <a:pt x="179" y="36"/>
                </a:lnTo>
                <a:lnTo>
                  <a:pt x="179" y="35"/>
                </a:lnTo>
                <a:cubicBezTo>
                  <a:pt x="185" y="15"/>
                  <a:pt x="204" y="0"/>
                  <a:pt x="227" y="0"/>
                </a:cubicBezTo>
                <a:close/>
              </a:path>
            </a:pathLst>
          </a:custGeom>
          <a:solidFill>
            <a:srgbClr val="FFFFFF"/>
          </a:solidFill>
          <a:ln w="403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15"/>
          <p:cNvSpPr/>
          <p:nvPr>
            <p:custDataLst>
              <p:tags r:id="rId29"/>
            </p:custDataLst>
          </p:nvPr>
        </p:nvSpPr>
        <p:spPr>
          <a:xfrm>
            <a:off x="7261663" y="2546446"/>
            <a:ext cx="363068" cy="418733"/>
          </a:xfrm>
          <a:custGeom>
            <a:avLst/>
            <a:gdLst>
              <a:gd name="connsiteX0" fmla="*/ 131280 w 141701"/>
              <a:gd name="connsiteY0" fmla="*/ 20007 h 20395"/>
              <a:gd name="connsiteX1" fmla="*/ 9780 w 141701"/>
              <a:gd name="connsiteY1" fmla="*/ 20007 h 20395"/>
              <a:gd name="connsiteX2" fmla="*/ -321 w 141701"/>
              <a:gd name="connsiteY2" fmla="*/ 9809 h 20395"/>
              <a:gd name="connsiteX3" fmla="*/ 9780 w 141701"/>
              <a:gd name="connsiteY3" fmla="*/ -389 h 20395"/>
              <a:gd name="connsiteX4" fmla="*/ 131280 w 141701"/>
              <a:gd name="connsiteY4" fmla="*/ -389 h 20395"/>
              <a:gd name="connsiteX5" fmla="*/ 141381 w 141701"/>
              <a:gd name="connsiteY5" fmla="*/ 9809 h 20395"/>
              <a:gd name="connsiteX6" fmla="*/ 131280 w 141701"/>
              <a:gd name="connsiteY6" fmla="*/ 20007 h 20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4" h="510">
                <a:moveTo>
                  <a:pt x="278" y="270"/>
                </a:moveTo>
                <a:lnTo>
                  <a:pt x="87" y="270"/>
                </a:lnTo>
                <a:cubicBezTo>
                  <a:pt x="78" y="270"/>
                  <a:pt x="71" y="263"/>
                  <a:pt x="71" y="254"/>
                </a:cubicBezTo>
                <a:cubicBezTo>
                  <a:pt x="71" y="245"/>
                  <a:pt x="78" y="238"/>
                  <a:pt x="87" y="238"/>
                </a:cubicBezTo>
                <a:lnTo>
                  <a:pt x="278" y="238"/>
                </a:lnTo>
                <a:cubicBezTo>
                  <a:pt x="287" y="238"/>
                  <a:pt x="294" y="245"/>
                  <a:pt x="294" y="254"/>
                </a:cubicBezTo>
                <a:cubicBezTo>
                  <a:pt x="294" y="263"/>
                  <a:pt x="287" y="270"/>
                  <a:pt x="278" y="270"/>
                </a:cubicBezTo>
                <a:close/>
                <a:moveTo>
                  <a:pt x="326" y="159"/>
                </a:moveTo>
                <a:lnTo>
                  <a:pt x="87" y="159"/>
                </a:lnTo>
                <a:cubicBezTo>
                  <a:pt x="78" y="159"/>
                  <a:pt x="71" y="152"/>
                  <a:pt x="71" y="143"/>
                </a:cubicBezTo>
                <a:cubicBezTo>
                  <a:pt x="71" y="134"/>
                  <a:pt x="78" y="127"/>
                  <a:pt x="87" y="127"/>
                </a:cubicBezTo>
                <a:lnTo>
                  <a:pt x="326" y="127"/>
                </a:lnTo>
                <a:cubicBezTo>
                  <a:pt x="335" y="127"/>
                  <a:pt x="342" y="134"/>
                  <a:pt x="342" y="143"/>
                </a:cubicBezTo>
                <a:cubicBezTo>
                  <a:pt x="342" y="152"/>
                  <a:pt x="335" y="159"/>
                  <a:pt x="326" y="159"/>
                </a:cubicBezTo>
                <a:close/>
                <a:moveTo>
                  <a:pt x="388" y="510"/>
                </a:moveTo>
                <a:lnTo>
                  <a:pt x="43" y="510"/>
                </a:lnTo>
                <a:cubicBezTo>
                  <a:pt x="19" y="510"/>
                  <a:pt x="0" y="492"/>
                  <a:pt x="0" y="470"/>
                </a:cubicBezTo>
                <a:lnTo>
                  <a:pt x="0" y="40"/>
                </a:lnTo>
                <a:cubicBezTo>
                  <a:pt x="0" y="18"/>
                  <a:pt x="19" y="0"/>
                  <a:pt x="43" y="0"/>
                </a:cubicBezTo>
                <a:lnTo>
                  <a:pt x="388" y="0"/>
                </a:lnTo>
                <a:cubicBezTo>
                  <a:pt x="412" y="0"/>
                  <a:pt x="431" y="18"/>
                  <a:pt x="431" y="40"/>
                </a:cubicBezTo>
                <a:lnTo>
                  <a:pt x="431" y="104"/>
                </a:lnTo>
                <a:cubicBezTo>
                  <a:pt x="431" y="113"/>
                  <a:pt x="424" y="120"/>
                  <a:pt x="415" y="120"/>
                </a:cubicBezTo>
                <a:cubicBezTo>
                  <a:pt x="406" y="120"/>
                  <a:pt x="399" y="113"/>
                  <a:pt x="399" y="104"/>
                </a:cubicBezTo>
                <a:lnTo>
                  <a:pt x="399" y="40"/>
                </a:lnTo>
                <a:cubicBezTo>
                  <a:pt x="399" y="36"/>
                  <a:pt x="394" y="32"/>
                  <a:pt x="388" y="32"/>
                </a:cubicBezTo>
                <a:lnTo>
                  <a:pt x="43" y="32"/>
                </a:lnTo>
                <a:cubicBezTo>
                  <a:pt x="37" y="32"/>
                  <a:pt x="32" y="36"/>
                  <a:pt x="32" y="40"/>
                </a:cubicBezTo>
                <a:lnTo>
                  <a:pt x="32" y="470"/>
                </a:lnTo>
                <a:cubicBezTo>
                  <a:pt x="32" y="474"/>
                  <a:pt x="37" y="478"/>
                  <a:pt x="43" y="478"/>
                </a:cubicBezTo>
                <a:lnTo>
                  <a:pt x="388" y="478"/>
                </a:lnTo>
                <a:cubicBezTo>
                  <a:pt x="394" y="478"/>
                  <a:pt x="399" y="474"/>
                  <a:pt x="399" y="470"/>
                </a:cubicBezTo>
                <a:lnTo>
                  <a:pt x="399" y="445"/>
                </a:lnTo>
                <a:cubicBezTo>
                  <a:pt x="399" y="436"/>
                  <a:pt x="406" y="429"/>
                  <a:pt x="415" y="429"/>
                </a:cubicBezTo>
                <a:cubicBezTo>
                  <a:pt x="424" y="429"/>
                  <a:pt x="431" y="436"/>
                  <a:pt x="431" y="445"/>
                </a:cubicBezTo>
                <a:lnTo>
                  <a:pt x="431" y="470"/>
                </a:lnTo>
                <a:cubicBezTo>
                  <a:pt x="431" y="492"/>
                  <a:pt x="412" y="510"/>
                  <a:pt x="388" y="510"/>
                </a:cubicBezTo>
                <a:close/>
                <a:moveTo>
                  <a:pt x="278" y="382"/>
                </a:moveTo>
                <a:lnTo>
                  <a:pt x="87" y="382"/>
                </a:lnTo>
                <a:cubicBezTo>
                  <a:pt x="78" y="382"/>
                  <a:pt x="71" y="375"/>
                  <a:pt x="71" y="366"/>
                </a:cubicBezTo>
                <a:cubicBezTo>
                  <a:pt x="71" y="357"/>
                  <a:pt x="78" y="350"/>
                  <a:pt x="87" y="350"/>
                </a:cubicBezTo>
                <a:lnTo>
                  <a:pt x="278" y="350"/>
                </a:lnTo>
                <a:cubicBezTo>
                  <a:pt x="287" y="350"/>
                  <a:pt x="294" y="357"/>
                  <a:pt x="294" y="366"/>
                </a:cubicBezTo>
                <a:cubicBezTo>
                  <a:pt x="294" y="375"/>
                  <a:pt x="287" y="382"/>
                  <a:pt x="278" y="382"/>
                </a:cubicBezTo>
                <a:close/>
                <a:moveTo>
                  <a:pt x="332" y="423"/>
                </a:moveTo>
                <a:cubicBezTo>
                  <a:pt x="329" y="423"/>
                  <a:pt x="326" y="422"/>
                  <a:pt x="324" y="421"/>
                </a:cubicBezTo>
                <a:cubicBezTo>
                  <a:pt x="316" y="416"/>
                  <a:pt x="313" y="407"/>
                  <a:pt x="318" y="399"/>
                </a:cubicBezTo>
                <a:lnTo>
                  <a:pt x="454" y="163"/>
                </a:lnTo>
                <a:cubicBezTo>
                  <a:pt x="458" y="155"/>
                  <a:pt x="468" y="153"/>
                  <a:pt x="476" y="157"/>
                </a:cubicBezTo>
                <a:cubicBezTo>
                  <a:pt x="483" y="162"/>
                  <a:pt x="486" y="171"/>
                  <a:pt x="482" y="179"/>
                </a:cubicBezTo>
                <a:lnTo>
                  <a:pt x="346" y="415"/>
                </a:lnTo>
                <a:cubicBezTo>
                  <a:pt x="343" y="420"/>
                  <a:pt x="337" y="423"/>
                  <a:pt x="332" y="423"/>
                </a:cubicBezTo>
                <a:close/>
              </a:path>
            </a:pathLst>
          </a:custGeom>
          <a:solidFill>
            <a:srgbClr val="FFFFFF"/>
          </a:solidFill>
          <a:ln w="485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6"/>
          <p:cNvSpPr/>
          <p:nvPr>
            <p:custDataLst>
              <p:tags r:id="rId30"/>
            </p:custDataLst>
          </p:nvPr>
        </p:nvSpPr>
        <p:spPr>
          <a:xfrm>
            <a:off x="14295527" y="2569435"/>
            <a:ext cx="372753" cy="372753"/>
          </a:xfrm>
          <a:custGeom>
            <a:avLst/>
            <a:gdLst>
              <a:gd name="connsiteX0" fmla="*/ 143768 w 288290"/>
              <a:gd name="connsiteY0" fmla="*/ 287895 h 288290"/>
              <a:gd name="connsiteX1" fmla="*/ -377 w 288290"/>
              <a:gd name="connsiteY1" fmla="*/ 143750 h 288290"/>
              <a:gd name="connsiteX2" fmla="*/ 143768 w 288290"/>
              <a:gd name="connsiteY2" fmla="*/ -395 h 288290"/>
              <a:gd name="connsiteX3" fmla="*/ 287913 w 288290"/>
              <a:gd name="connsiteY3" fmla="*/ 143750 h 288290"/>
              <a:gd name="connsiteX4" fmla="*/ 143768 w 288290"/>
              <a:gd name="connsiteY4" fmla="*/ 287895 h 288290"/>
              <a:gd name="connsiteX5" fmla="*/ 143768 w 288290"/>
              <a:gd name="connsiteY5" fmla="*/ 17012 h 288290"/>
              <a:gd name="connsiteX6" fmla="*/ 17071 w 288290"/>
              <a:gd name="connsiteY6" fmla="*/ 143709 h 288290"/>
              <a:gd name="connsiteX7" fmla="*/ 143768 w 288290"/>
              <a:gd name="connsiteY7" fmla="*/ 270407 h 288290"/>
              <a:gd name="connsiteX8" fmla="*/ 270466 w 288290"/>
              <a:gd name="connsiteY8" fmla="*/ 143709 h 288290"/>
              <a:gd name="connsiteX9" fmla="*/ 143768 w 288290"/>
              <a:gd name="connsiteY9" fmla="*/ 17012 h 288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4" h="454">
                <a:moveTo>
                  <a:pt x="311" y="123"/>
                </a:moveTo>
                <a:cubicBezTo>
                  <a:pt x="318" y="123"/>
                  <a:pt x="325" y="126"/>
                  <a:pt x="330" y="131"/>
                </a:cubicBezTo>
                <a:cubicBezTo>
                  <a:pt x="338" y="139"/>
                  <a:pt x="340" y="151"/>
                  <a:pt x="336" y="162"/>
                </a:cubicBezTo>
                <a:lnTo>
                  <a:pt x="263" y="335"/>
                </a:lnTo>
                <a:cubicBezTo>
                  <a:pt x="259" y="344"/>
                  <a:pt x="252" y="350"/>
                  <a:pt x="242" y="351"/>
                </a:cubicBezTo>
                <a:cubicBezTo>
                  <a:pt x="241" y="352"/>
                  <a:pt x="239" y="352"/>
                  <a:pt x="237" y="352"/>
                </a:cubicBezTo>
                <a:cubicBezTo>
                  <a:pt x="230" y="352"/>
                  <a:pt x="223" y="349"/>
                  <a:pt x="217" y="344"/>
                </a:cubicBezTo>
                <a:lnTo>
                  <a:pt x="199" y="325"/>
                </a:lnTo>
                <a:cubicBezTo>
                  <a:pt x="193" y="320"/>
                  <a:pt x="193" y="311"/>
                  <a:pt x="199" y="306"/>
                </a:cubicBezTo>
                <a:cubicBezTo>
                  <a:pt x="204" y="300"/>
                  <a:pt x="213" y="300"/>
                  <a:pt x="218" y="306"/>
                </a:cubicBezTo>
                <a:lnTo>
                  <a:pt x="237" y="324"/>
                </a:lnTo>
                <a:lnTo>
                  <a:pt x="301" y="174"/>
                </a:lnTo>
                <a:lnTo>
                  <a:pt x="187" y="282"/>
                </a:lnTo>
                <a:lnTo>
                  <a:pt x="185" y="317"/>
                </a:lnTo>
                <a:cubicBezTo>
                  <a:pt x="185" y="324"/>
                  <a:pt x="179" y="328"/>
                  <a:pt x="172" y="328"/>
                </a:cubicBezTo>
                <a:cubicBezTo>
                  <a:pt x="172" y="328"/>
                  <a:pt x="171" y="328"/>
                  <a:pt x="171" y="328"/>
                </a:cubicBezTo>
                <a:cubicBezTo>
                  <a:pt x="164" y="328"/>
                  <a:pt x="158" y="324"/>
                  <a:pt x="158" y="316"/>
                </a:cubicBezTo>
                <a:lnTo>
                  <a:pt x="160" y="275"/>
                </a:lnTo>
                <a:cubicBezTo>
                  <a:pt x="160" y="271"/>
                  <a:pt x="162" y="267"/>
                  <a:pt x="164" y="265"/>
                </a:cubicBezTo>
                <a:lnTo>
                  <a:pt x="165" y="265"/>
                </a:lnTo>
                <a:lnTo>
                  <a:pt x="165" y="264"/>
                </a:lnTo>
                <a:lnTo>
                  <a:pt x="265" y="170"/>
                </a:lnTo>
                <a:lnTo>
                  <a:pt x="137" y="224"/>
                </a:lnTo>
                <a:lnTo>
                  <a:pt x="155" y="243"/>
                </a:lnTo>
                <a:cubicBezTo>
                  <a:pt x="160" y="248"/>
                  <a:pt x="160" y="257"/>
                  <a:pt x="155" y="262"/>
                </a:cubicBezTo>
                <a:cubicBezTo>
                  <a:pt x="150" y="268"/>
                  <a:pt x="141" y="268"/>
                  <a:pt x="136" y="262"/>
                </a:cubicBezTo>
                <a:lnTo>
                  <a:pt x="117" y="244"/>
                </a:lnTo>
                <a:cubicBezTo>
                  <a:pt x="111" y="237"/>
                  <a:pt x="108" y="228"/>
                  <a:pt x="110" y="219"/>
                </a:cubicBezTo>
                <a:cubicBezTo>
                  <a:pt x="111" y="209"/>
                  <a:pt x="117" y="202"/>
                  <a:pt x="126" y="198"/>
                </a:cubicBezTo>
                <a:lnTo>
                  <a:pt x="299" y="125"/>
                </a:lnTo>
                <a:cubicBezTo>
                  <a:pt x="303" y="124"/>
                  <a:pt x="307" y="123"/>
                  <a:pt x="311" y="123"/>
                </a:cubicBezTo>
                <a:close/>
                <a:moveTo>
                  <a:pt x="227" y="27"/>
                </a:moveTo>
                <a:cubicBezTo>
                  <a:pt x="117" y="27"/>
                  <a:pt x="27" y="117"/>
                  <a:pt x="27" y="227"/>
                </a:cubicBezTo>
                <a:cubicBezTo>
                  <a:pt x="27" y="337"/>
                  <a:pt x="117" y="426"/>
                  <a:pt x="227" y="426"/>
                </a:cubicBezTo>
                <a:cubicBezTo>
                  <a:pt x="337" y="426"/>
                  <a:pt x="427" y="337"/>
                  <a:pt x="427" y="227"/>
                </a:cubicBezTo>
                <a:cubicBezTo>
                  <a:pt x="427" y="117"/>
                  <a:pt x="337" y="27"/>
                  <a:pt x="227" y="27"/>
                </a:cubicBezTo>
                <a:close/>
                <a:moveTo>
                  <a:pt x="227" y="0"/>
                </a:moveTo>
                <a:cubicBezTo>
                  <a:pt x="352" y="0"/>
                  <a:pt x="454" y="102"/>
                  <a:pt x="454" y="227"/>
                </a:cubicBezTo>
                <a:cubicBezTo>
                  <a:pt x="454" y="352"/>
                  <a:pt x="352" y="454"/>
                  <a:pt x="227" y="454"/>
                </a:cubicBezTo>
                <a:cubicBezTo>
                  <a:pt x="102" y="454"/>
                  <a:pt x="0" y="352"/>
                  <a:pt x="0" y="227"/>
                </a:cubicBezTo>
                <a:cubicBezTo>
                  <a:pt x="0" y="102"/>
                  <a:pt x="102" y="0"/>
                  <a:pt x="227" y="0"/>
                </a:cubicBezTo>
                <a:close/>
              </a:path>
            </a:pathLst>
          </a:custGeom>
          <a:solidFill>
            <a:srgbClr val="FFFFFF"/>
          </a:solidFill>
          <a:ln w="404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2423160" y="8158480"/>
            <a:ext cx="13655040" cy="143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/>
              <a:t>Overall Impact</a:t>
            </a:r>
            <a:endParaRPr lang="en-US" altLang="en-US" sz="2800"/>
          </a:p>
          <a:p>
            <a:r>
              <a:rPr lang="en-US" altLang="en-US" sz="2800"/>
              <a:t>Ticket Prices → Index Engine → National Index</a:t>
            </a:r>
            <a:endParaRPr lang="en-US" sz="2800"/>
          </a:p>
        </p:txBody>
      </p:sp>
      <p:sp>
        <p:nvSpPr>
          <p:cNvPr id="49" name="Rectangle 48"/>
          <p:cNvSpPr/>
          <p:nvPr/>
        </p:nvSpPr>
        <p:spPr>
          <a:xfrm>
            <a:off x="2207260" y="8253095"/>
            <a:ext cx="8775065" cy="1040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RESEARCH  AND REFERENCES</a:t>
              </a:r>
              <a:endParaRPr lang="en-US" sz="54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6</a:t>
              </a:r>
              <a:endParaRPr lang="en-US" sz="1800" b="1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@SIH Idea submission- Template</a:t>
              </a:r>
              <a:endParaRPr lang="en-US" sz="18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AeroSpace</a:t>
              </a:r>
              <a:endPara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7" name="Freeform 1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33555" y="2333771"/>
            <a:ext cx="16854445" cy="549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altLang="en-US" sz="3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Jevons / Geometric Mean Index – Used for consistent airfare price aggregation.</a:t>
            </a:r>
            <a:endParaRPr lang="en-US" altLang="en-US" sz="3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altLang="en-US" sz="3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Weighted Index Method – Combines route-level prices into a national airfare index.</a:t>
            </a:r>
            <a:endParaRPr lang="en-US" altLang="en-US" sz="3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altLang="en-US" sz="3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Base Period Methodology – The first snapshot is taken as the base, with Index = 100.</a:t>
            </a:r>
            <a:endParaRPr lang="en-US" altLang="en-US" sz="3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altLang="en-US" sz="3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Collection Research – Airline and flight-search platforms were studied for airfare data collection.</a:t>
            </a:r>
            <a:endParaRPr lang="en-US" altLang="en-US" sz="3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altLang="en-US" sz="3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Processing – Cleaning, filtering and deduplication ensure reliable observations.</a:t>
            </a:r>
            <a:endParaRPr lang="en-US" altLang="en-US" sz="3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altLang="en-US" sz="3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Technology Stack – Python, Pandas, NumPy, Playwright, REST API and React.</a:t>
            </a:r>
            <a:endParaRPr lang="en-US" altLang="en-US" sz="3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altLang="en-US" sz="3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Prototype Validation – 5,916 airfare records across 4 snapshots, providing the initial dataset for index calculation.</a:t>
            </a:r>
            <a:endParaRPr lang="en-US" altLang="en-US" sz="3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8372_3*l_h_i*1_1_4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72_3*l_h_i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72_3*l_h_f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54.83850884902023,&quot;left&quot;:99.11713283687149,&quot;top&quot;:180.72500610351562,&quot;width&quot;:1300.357861059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72_3*l_h_a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72_3*l_h_i*1_1_2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372_3*l_h_i*1_1_3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38372_3*l_h_i*1_2_4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72_3*l_h_i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72_3*l_h_i*1_2_2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372_3*l_h_i*1_2_3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72_3*l_h_f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54.83850884902023,&quot;left&quot;:99.11713283687149,&quot;top&quot;:180.72500610351562,&quot;width&quot;:1300.357861059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72_3*l_h_a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38372_3*l_h_i*1_3_4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72_3*l_h_i*1_3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372_3*l_h_i*1_3_2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8372_3*l_h_i*1_3_3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72_3*l_h_f*1_3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54.83850884902023,&quot;left&quot;:99.11713283687149,&quot;top&quot;:180.72500610351562,&quot;width&quot;:1300.357861059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372_3*l_h_a*1_3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8372_3*l_h_i*1_4_4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72_3*l_h_i*1_4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372_3*l_h_i*1_4_2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372_3*l_h_i*1_4_3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72_3*l_h_f*1_4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54.83850884902023,&quot;left&quot;:99.11713283687149,&quot;top&quot;:180.72500610351562,&quot;width&quot;:1300.357861059612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372_3*l_h_a*1_4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54.83850884902023,&quot;left&quot;:99.11713283687149,&quot;top&quot;:180.72500610351562,&quot;width&quot;:1300.357861059612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80*6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372_3*l_h_x*1_1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54.83850884902023,&quot;left&quot;:99.11713283687149,&quot;top&quot;:180.72500610351562,&quot;width&quot;:1300.357861059612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64*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372_3*l_h_x*1_3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DIAGRAM_VIRTUALLY_FRAME" val="{&quot;height&quot;:454.83850884902023,&quot;left&quot;:99.11713283687149,&quot;top&quot;:180.72500610351562,&quot;width&quot;:1300.3578610596128}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372_3*l_h_x*1_2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54.83850884902023,&quot;left&quot;:99.11713283687149,&quot;top&quot;:180.72500610351562,&quot;width&quot;:1300.357861059612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80*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372_3*l_h_x*1_4_1"/>
  <p:tag name="KSO_WM_TEMPLATE_CATEGORY" val="diagram"/>
  <p:tag name="KSO_WM_TEMPLATE_INDEX" val="20238372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resource_record_key" val="{&quot;70&quot;:[3322237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3647</Words>
  <Application>WPS Presentation</Application>
  <PresentationFormat>On-screen Show (4:3)</PresentationFormat>
  <Paragraphs>134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Times New Roman Bold</vt:lpstr>
      <vt:lpstr>Arial</vt:lpstr>
      <vt:lpstr>Times New Roman</vt:lpstr>
      <vt:lpstr>Arimo Bold</vt:lpstr>
      <vt:lpstr>Arimo</vt:lpstr>
      <vt:lpstr>Calibri (MS)</vt:lpstr>
      <vt:lpstr>Calibri</vt:lpstr>
      <vt:lpstr>Microsoft YaHei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SIH2025-IDEA-Presentation-Format.pptx</dc:title>
  <dc:creator/>
  <cp:lastModifiedBy>gourisree</cp:lastModifiedBy>
  <cp:revision>4</cp:revision>
  <dcterms:created xsi:type="dcterms:W3CDTF">2006-08-16T00:00:00Z</dcterms:created>
  <dcterms:modified xsi:type="dcterms:W3CDTF">2026-09-10T13:30:55Z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30051072EDFB4D35932F71E9E98B3AC2_13</vt:lpwstr>
  </property>
</Properties>
</file>